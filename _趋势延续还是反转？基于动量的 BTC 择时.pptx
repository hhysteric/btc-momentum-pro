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1675"/>
  <p:notesSz cx="6858000" cy="9144000"/>
  <p:embeddedFontLst>
    <p:embeddedFont>
      <p:font typeface="Quattrocen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rEeb1aFjwcwy+vF7naWt2uZre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B6F915-00D1-449E-BB64-1026881BB35B}">
  <a:tblStyle styleId="{BCB6F915-00D1-449E-BB64-1026881BB3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font" Target="fonts/QuattrocentoSans-regular.fntdata"/><Relationship Id="rId38" Type="http://schemas.openxmlformats.org/officeDocument/2006/relationships/font" Target="fonts/QuattrocentoSans-bold.fntdata"/><Relationship Id="rId39" Type="http://schemas.openxmlformats.org/officeDocument/2006/relationships/font" Target="fonts/QuattrocentoSans-italic.fntdata"/><Relationship Id="rId40" Type="http://schemas.openxmlformats.org/officeDocument/2006/relationships/font" Target="fonts/QuattrocentoSans-boldItalic.fntdata"/><Relationship Id="rId4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1874519"/>
            <a:ext cx="1219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0F3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趋势延续还是反转？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0" y="2971800"/>
            <a:ext cx="12191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基于动量的 BTC 择时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0" y="4206240"/>
            <a:ext cx="121917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 </a:t>
            </a:r>
            <a:r>
              <a:rPr lang="en-US" sz="15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Short-Term Reversals and Longer-Term Momentum Around the World: Theory and Evidence 论文</a:t>
            </a:r>
            <a:endParaRPr/>
          </a:p>
          <a:p>
            <a:pPr indent="0" lvl="0" marL="0" marR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回测参数优化截止 2026-09-02 · 信号数据更新至 2026-09-10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你可能遇到过这些问题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30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77240" y="1463040"/>
            <a:ext cx="114300" cy="114300"/>
          </a:xfrm>
          <a:prstGeom prst="ellipse">
            <a:avLst/>
          </a:prstGeom>
          <a:solidFill>
            <a:srgbClr val="6EB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51560" y="1371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BTC 跌了 10%，朋友说"抄底"，你不确定——还会反弹吗？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77240" y="2066544"/>
            <a:ext cx="114300" cy="114300"/>
          </a:xfrm>
          <a:prstGeom prst="ellipse">
            <a:avLst/>
          </a:prstGeom>
          <a:solidFill>
            <a:srgbClr val="6EB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51560" y="1975104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BTC 涨了一个月，你想追——趋势还能持续吗？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77240" y="2670048"/>
            <a:ext cx="114300" cy="114300"/>
          </a:xfrm>
          <a:prstGeom prst="ellipse">
            <a:avLst/>
          </a:prstGeom>
          <a:solidFill>
            <a:srgbClr val="6EB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51560" y="257860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看了一堆指标（RSI、MACD、布林带），信号互相矛盾，不知听谁的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777240" y="3273552"/>
            <a:ext cx="114300" cy="114300"/>
          </a:xfrm>
          <a:prstGeom prst="ellipse">
            <a:avLst/>
          </a:prstGeom>
          <a:solidFill>
            <a:srgbClr val="6EB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51560" y="3182112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想要一个有支撑、而不是靠"感觉画线"的分析工具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777240" y="3877056"/>
            <a:ext cx="114300" cy="114300"/>
          </a:xfrm>
          <a:prstGeom prst="ellipse">
            <a:avLst/>
          </a:prstGeom>
          <a:solidFill>
            <a:srgbClr val="6EB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51560" y="3785616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找到了信号，却不知道怎么叠加多重确认来提高胜率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这套工具想解决的核心问题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用一个有学术论文支撑、逻辑自洽的框架先判断方向，再用均线做多重确认把胜率提上去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这套工具是什么 · 今天讲什么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30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40080" y="1280160"/>
            <a:ext cx="10881360" cy="1371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一句话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用一篇顶刊论文的模型判断方向（该做多还是做空），再用均线滤波把"逆势"的买卖点筛掉，只留顺势的高质量信号。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40080" y="2834640"/>
            <a:ext cx="5166360" cy="32004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接下来会依次讲清 6 件事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① 两个核心直觉：短期反转 &amp; 中长期动量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② 论文做了什么、怎么搬到 BTC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③ 信号和买卖点是怎么产生的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④ 有多少超额收益、为什么 30 天最好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⑤ 样本外验证与适用边界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⑥ 局限与总结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172200" y="2834640"/>
            <a:ext cx="5349240" cy="32004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给完全不懂的你一个承诺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不需要任何量化或编程背景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每个术语都会用生活化的例子讲清楚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每个数字都来自真实回测、可溯源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该说的局限一个都不藏——包括它什么时候不灵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8046720" y="7315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55448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两个核心直觉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0" y="452628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短期反转 &amp; 中长期动量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什么是"短期反转"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30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40080" y="1280160"/>
            <a:ext cx="5166360" cy="24688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用一句大白话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"涨多了会回、跌多了会弹"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价格短期内被情绪推得过头（追涨杀跌），过几天往往被纠正、往回走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就像橡皮筋拉太远会弹回来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172200" y="1280160"/>
            <a:ext cx="5349240" cy="24688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在本工具里具体怎么算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看最近 30 天：拿今天价格和 30 天前比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涨得越猛 → 反转分越偏"看空"；跌得越狠 → 越偏"看多"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所以短期策略是"逆着最近的极端走"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40080" y="3977639"/>
            <a:ext cx="10881360" cy="21031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关键点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"短期"在这里有明确定义 = 最近 30 天的价格变化（不是模糊的"最近"）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它天生带"逆势"性质：最近涨太多，它反而提示谨慎；最近跌太狠，它反而提示机会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为什么是 30 天：论文验证 + BTC 回测都用这个窗口，能较好捕捉情绪化过度反应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什么是"中长期动量"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30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0080" y="1280160"/>
            <a:ext cx="5166360" cy="24688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用一句大白话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"强者恒强、弱者恒弱"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过去几个月一直涨的，往往还会接着涨；一直跌的，还会接着跌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就像重物有惯性，趋势一旦形成不会马上停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172200" y="1280160"/>
            <a:ext cx="5349240" cy="24688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在本工具里具体怎么算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看约 270 天的大趋势（BTC 适配后的窗口）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但故意跳过最近 21 天——避免和"短期反转"抢同一段行情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所以中长期策略是"顺着大趋势走"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40080" y="3977639"/>
            <a:ext cx="10881360" cy="21031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关键点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"中长期"也有明确定义 = 约 270 天的价格趋势（跳过最近 21 天）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它天生带"顺势"性质：过去半年多在涨，它倾向继续看多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"跳过最近 21 天"是论文的巧思：让动量只看大趋势，把最近的短期噪声留给反转因子去处理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和 30 天不冲突：30 天是「反转」窗口、只看最近；270 天跳过最近 21 天是「动量」窗口、只看更早的大趋势——两者管不同时间段，不重叠。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短期要逆、中长期要顺——不打架吗？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30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640080" y="1325880"/>
            <a:ext cx="10881360" cy="1371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答案：不打架，因为它们看的是不同的时间尺度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一个管"最近几周的极端"，一个管"过去大半年的趋势"，各司其职、互相补充。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40080" y="2880360"/>
            <a:ext cx="5166360" cy="31089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打个比方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大方向（中长期动量）说：现在是上升趋势，倾向做多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小择时（短期反转）说：最近几天暴跌超跌了，这是更好的进场点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两者合起来 = "在上升趋势里，等一个短期回调再进"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这比单看任何一个都聪明</a:t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172200" y="2880360"/>
            <a:ext cx="5349240" cy="31089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所以模型同时用两个因子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顺势的动量分：判断大方向该不该做多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逆势的反转分：判断此刻是不是好的进出点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两个分数加权合成一个"综合评分"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下一节讲：这个权重不是固定的，会根据市场情况自动调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关键洞察："噪声"决定谁说了算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30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40080" y="1280160"/>
            <a:ext cx="10881360" cy="15544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什么是"噪声交易者"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就是那些追涨杀跌、被情绪驱动、不看基本面乱买乱卖的人。市场里这种人的活跃程度，就是"噪声"大小。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40080" y="2971800"/>
            <a:ext cx="5166360" cy="30175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噪声大的时候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情绪化交易多 → 价格容易被推过头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"过度反应"频繁出现 → 短期反转的机会更明显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此刻应该更相信"反转分"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172200" y="2971800"/>
            <a:ext cx="5349240" cy="30175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噪声小的时候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市场理性、趋势干净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价格沿趋势平稳推进 → 动量更可靠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此刻应该更相信"动量分"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模型正是用"噪声大小"实时调整反转/动量的权重——这就是它比固定参数指标聪明的地方。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8046720" y="7315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0" y="155448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从论文到 BTC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0" y="452628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论文讲了什么 · 我如何把它搬过来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论文做了什么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30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640080" y="1325880"/>
            <a:ext cx="10881360" cy="1371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N. Jegadeesh, J. Luo, A. Subrahmanyam, S. Titman (2025)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</a:t>
            </a:r>
            <a:r>
              <a:rPr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Short-Term Reversals and Longer-Term Momentum Around the World</a:t>
            </a: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" · 发表于 Review of Financial Studies（金融学三大顶刊之一）</a:t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640080" y="2880360"/>
            <a:ext cx="5166360" cy="31089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三个核心发现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研究了全球 39 个国家的股票市场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用同一个模型，同时解释两个看似矛盾的现象：短期会反转、中长期会延续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把两者联系起来的关键，是市场里的"噪声交易者"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172200" y="2880360"/>
            <a:ext cx="5349240" cy="31089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为什么值得信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顶刊论文，经过严格同行评审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跨 39 国验证，不是只在一个市场碰巧成立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有理论解释（噪声），不是纯粹的数据挖掘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这给了我们一个可靠的"方向判断"底座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难题：论文是给"一堆股票"设计的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30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640080" y="1325880"/>
            <a:ext cx="5166360" cy="27432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论文原始设定（股票）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研究对象：39 国、成千上万只股票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反转/动量：把所有股票横向排名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做多排名靠前的、做空靠后的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赚的是"不同股票之间"的价差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6172200" y="1325880"/>
            <a:ext cx="5349240" cy="27432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搬到 BTC 的难题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BTC 只有一个标的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你没有"39 个 BTC"可以互相排名比较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论文的"横截面排序"直接用不了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→ 必须换一种思路</a:t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一句话说清难题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论文靠"多只股票横向比较"来定强弱；而 BTC 只有一个，无法横向比较。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所以核心问题是：怎么在"只有一个资产"的情况下，保留论文的反转+动量思想？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解法：把"跨资产"改成"跨时间尺度"</a:t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30</a:t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640080" y="1325880"/>
            <a:ext cx="10881360" cy="15544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核心改造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不再比较"不同股票"，而是比较"同一个 BTC 的不同时间尺度"：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用最近 30 天算"反转分"，用约 270 天算"动量分"——同一资产，两个尺度。</a:t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640080" y="3063240"/>
            <a:ext cx="5166360" cy="29260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论文思想被完整保留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反转、动量、噪声三个核心因子都在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只是输入从"横截面"变成"时间序列"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理论骨架不变，换了适配加密市场的血肉</a:t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172200" y="3063240"/>
            <a:ext cx="5349240" cy="29260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噪声代理也换了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股票用换手率、买卖价差衡量噪声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BTC 换成加密市场能实时看到的：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资金费率 + 波动率分档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（资金费率反映合约多空拥挤程度，是很好的情绪/噪声信号）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如何针对 BTC 改造论文的周期参数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30</a:t>
            </a:r>
            <a:endParaRPr/>
          </a:p>
        </p:txBody>
      </p:sp>
      <p:graphicFrame>
        <p:nvGraphicFramePr>
          <p:cNvPr id="203" name="Google Shape;203;p13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{BCB6F915-00D1-449E-BB64-1026881BB35B}</a:tableStyleId>
              </a:tblPr>
              <a:tblGrid>
                <a:gridCol w="2011675"/>
                <a:gridCol w="3931925"/>
                <a:gridCol w="2286000"/>
                <a:gridCol w="26517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参数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含义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论文原始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BTC 适配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反转窗口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短期反转看多少天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C7CFD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天（不变）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动量窗口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中长期动量看多少天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330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6EB4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270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动量跳过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动量跳过最近多少天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6EB4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21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入场阈值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评分超过多少才发信号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6EB4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0.5（更灵敏）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噪声敏感度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权重随噪声调整的力度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6EB4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0.3（更稳）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减半增强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减半后增强动量（BTC 独有）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540 天 / ×1.2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资金费率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作为噪声因子（BTC 独有）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占噪声 30%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13"/>
          <p:cNvSpPr txBox="1"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改造逻辑：BTC 波动更快、周期更短，动量窗口缩短、阈值调灵敏。注：动量「跳过最近 21 天」是为了不和 30 天反转窗口抢同一段行情（反转管最近、动量管更早），两者不冲突。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综合评分是怎么算出来的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30</a:t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1097280" y="1371600"/>
            <a:ext cx="9966960" cy="1097280"/>
          </a:xfrm>
          <a:prstGeom prst="roundRect">
            <a:avLst>
              <a:gd fmla="val 7000" name="adj"/>
            </a:avLst>
          </a:prstGeom>
          <a:solidFill>
            <a:srgbClr val="1A2332"/>
          </a:solidFill>
          <a:ln cap="flat" cmpd="sng" w="12700">
            <a:solidFill>
              <a:srgbClr val="2E4160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algn="ctr" dir="5400000" dist="25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综合评分 = 动量权重 × 动量分 + 反转权重 × 反转分</a:t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40080" y="2697480"/>
            <a:ext cx="5166360" cy="32918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三步走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① 两个分各自标准化（z-score），拉到可比较的尺度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② 权重按当前"噪声大小"实时调整：噪声大→反转权重↑、动量权重↓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③ 资金费率不是独立一项，而是作为噪声因子（占噪声 30%）来影响这个权重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④ 再乘一个"机制置信度"做微调</a:t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6172200" y="2697480"/>
            <a:ext cx="5349240" cy="32918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两个容易误会的点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评分不是"越高越好"，而是穿过阈值才发信号（见下一节）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"资金费率占 30% 权重"指的是它在噪声合成里的比重，不是直接进评分公式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所以公式只有两项（动量+反转），资金费率藏在"权重怎么定"这一步里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/>
          <p:nvPr/>
        </p:nvSpPr>
        <p:spPr>
          <a:xfrm>
            <a:off x="8046720" y="7315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0" y="155448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信号怎么来</a:t>
            </a:r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0" y="452628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从评分到买卖点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评分怎么变成买卖信号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/ 30</a:t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640080" y="1280160"/>
            <a:ext cx="10881360" cy="21945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三种信号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综合评分"向上穿过"阈值 → 做多信号（绿色 ↑）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综合评分"向下穿过"阈值 → 做空信号（红色 ↓）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多个极端条件同时触发 → 级联预警（强信号）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640080" y="3703320"/>
            <a:ext cx="5166360" cy="22860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为什么是"穿过"而不是"高于"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信号在评分"上穿/下穿"阈值的那一刻触发（边沿触发）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不是"只要评分高就一直发信号"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这样避免同一波行情反复重复报信号</a:t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6172200" y="3703320"/>
            <a:ext cx="5349240" cy="22860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"死区"设计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评分绝对值很小时（接近 0）不发任何信号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因为方向不明确，宁可不动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只在信号足够清晰时才出手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只靠论文信号，够好吗？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 / 30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822960" y="1371600"/>
            <a:ext cx="3200400" cy="155448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4CC9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+10.71%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做多信号 30 天平均收益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4343400" y="1371600"/>
            <a:ext cx="3200400" cy="155448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做多胜率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7863840" y="1371600"/>
            <a:ext cx="3520440" cy="155448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F0F3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 次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做多信号有效样本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640080" y="3200400"/>
            <a:ext cx="10881360" cy="28346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还不错，但有个明显问题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原始信号（不加任何过滤）做多 30 天平均 +10.71%、胜率约 58%——已经能赚，但不够稳。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问题：有些做多信号出现在"下跌趋势里"，属于逆势抄底，容易被套。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打个比方：论文告诉你"该买了"，但它不知道你是在牛市里买、还是在熊市半山腰接飞刀。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→ 这正是下一步要叠加"均线滤波"的动机：把逆势的信号筛掉。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买卖点升级：三重均线滤波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 / 30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640080" y="1325880"/>
            <a:ext cx="5166360" cy="29260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做多滤波（三条件全满足才保留）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① 价格 &gt; MA110（大趋势向上）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② MA6 &gt; MA103（短期也在走强）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③ 价格 &gt; EMA50（中期向上）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只有论文做多信号 + 三条件全绿 = 高质量买点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6172200" y="1325880"/>
            <a:ext cx="5349240" cy="29260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做空滤波（价格在均线下方）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要求价格 &lt; MA110 或 价格 &lt; EMA50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即价格确实在关键均线下方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才保留做空信号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640080" y="4434840"/>
            <a:ext cx="10881360" cy="16459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为什么有效 + 用户可自己调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均线就是"趋势的过滤网"：把逆着大趋势的信号筛掉，只留顺势的。逆势单是亏损的主要来源。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这些滤波开关在网站上可自由勾选：全勾最严格、也可只留一两个、或全关看原始信号，实时重算收益。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/>
          <p:nvPr/>
        </p:nvSpPr>
        <p:spPr>
          <a:xfrm>
            <a:off x="8046720" y="7315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0" y="155448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超额收益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0" y="452628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买卖点能捕获多少 · 为什么 30 天最好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加了滤波，收益提升多少（做多）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/ 30</a:t>
            </a:r>
            <a:endParaRPr/>
          </a:p>
        </p:txBody>
      </p:sp>
      <p:graphicFrame>
        <p:nvGraphicFramePr>
          <p:cNvPr id="266" name="Google Shape;266;p20"/>
          <p:cNvGraphicFramePr/>
          <p:nvPr/>
        </p:nvGraphicFramePr>
        <p:xfrm>
          <a:off x="82296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{BCB6F915-00D1-449E-BB64-1026881BB35B}</a:tableStyleId>
              </a:tblPr>
              <a:tblGrid>
                <a:gridCol w="2286000"/>
                <a:gridCol w="2743200"/>
                <a:gridCol w="2743200"/>
                <a:gridCol w="274320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持有期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论文原始信号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三重滤波后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相对提升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+1.12%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+1.74%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+55%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+2.01%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+3.50%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+74%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+3.25%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+6.03%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+86%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+10.71%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+20.52%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+92%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20"/>
          <p:cNvSpPr/>
          <p:nvPr/>
        </p:nvSpPr>
        <p:spPr>
          <a:xfrm>
            <a:off x="822960" y="4617720"/>
            <a:ext cx="10515600" cy="155448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核心结论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每个持有期，滤波后都明显更高；30 天做多从 +10.71% 提升到 +20.52%（超额 +9.82 个百分点、相对 +92%）。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胜率也从约 58% 提到约 62%。过滤逆势信号，是拿到超额回报的关键。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为什么"30 天做多"表现最佳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/ 30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640080" y="1280160"/>
            <a:ext cx="10881360" cy="14630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现象：持有越久，滤波带来的超额越大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滤波后各持有期收益：1 天 +1.74% → 3 天 +3.50% → 7 天 +6.03% → 30 天 +20.52%，一路递增。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640080" y="2880360"/>
            <a:ext cx="5166360" cy="31089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为什么会这样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做多信号本质是在"顺势"下注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动量（趋势惯性）需要时间才能充分兑现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持有太短（1-3 天）：趋势还没走出来，收益小、还容易被手续费吃掉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持有到 30 天：趋势充分展开，动量红利最大化</a:t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6172200" y="2880360"/>
            <a:ext cx="5349240" cy="31089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数据也印证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30 天档：超额绝对值 +9.82 个百分点，全期最大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30 天档：相对提升 +92%，也是全期最大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→ 这套策略的"最佳持有期"就落在约 30 天（1 个月级别）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适合中长线、而非日内高频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 —— 整套策略最强的部分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/ 30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640080" y="1371600"/>
            <a:ext cx="3291840" cy="155448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4CC9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+20.52%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滤波后做多 30 日均收益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4251960" y="1371600"/>
            <a:ext cx="3291840" cy="155448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4CC9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 天胜率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7863840" y="1371600"/>
            <a:ext cx="3611880" cy="155448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 → 42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信号次数（少而精）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640080" y="3200400"/>
            <a:ext cx="10881360" cy="28346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怎么解读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三重滤波把做多信号从 85 次精简到 42 次 —— 宁可少做，也要做对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各持有期收益全面提升：1 天 +55%、3 天 +74%、7 天 +86%、30 天 +92%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胜率区间从约 58-65% 抬升到约 62-67%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这是整套策略里最稳定、最值得依赖的部分（下一节会讲它的边界）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做空 —— 诚实面对它的局限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 / 30</a:t>
            </a:r>
            <a:endParaRPr/>
          </a:p>
        </p:txBody>
      </p:sp>
      <p:graphicFrame>
        <p:nvGraphicFramePr>
          <p:cNvPr id="293" name="Google Shape;293;p23"/>
          <p:cNvGraphicFramePr/>
          <p:nvPr/>
        </p:nvGraphicFramePr>
        <p:xfrm>
          <a:off x="82296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{BCB6F915-00D1-449E-BB64-1026881BB35B}</a:tableStyleId>
              </a:tblPr>
              <a:tblGrid>
                <a:gridCol w="2103125"/>
                <a:gridCol w="2926075"/>
                <a:gridCol w="2926075"/>
                <a:gridCol w="25603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持有期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论文做空信号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滤波后做空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变化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+0.44% (53%)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C7CFD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-0.26% (44%)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走弱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+0.76% (52%)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C7CFD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-1.19% (44%)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走弱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66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-3.47% (43%)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66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-2.87% (38%)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略改善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23"/>
          <p:cNvSpPr/>
          <p:nvPr/>
        </p:nvSpPr>
        <p:spPr>
          <a:xfrm>
            <a:off x="822960" y="3703320"/>
            <a:ext cx="10515600" cy="22860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为什么做空效果一般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BTC 长期是上行的，做空天然逆风：做空 30 天平均约 -3.47%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均线下方常是"超跌区"，加滤波后短期反而更弱、容易遇到反弹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"胜率 43%"这里指"价格继续下跌（做空获利）的比例"——不到一半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→ 做空的定位是风险预警和对冲，不适合当主进攻手段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超额收益 · 核心数据总结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 / 30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640080" y="1371600"/>
            <a:ext cx="3291840" cy="137160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4CC9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+20.52%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 30 日均收益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4251960" y="1371600"/>
            <a:ext cx="3291840" cy="137160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+92%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30 日超额提升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7863840" y="1371600"/>
            <a:ext cx="3611880" cy="1371600"/>
          </a:xfrm>
          <a:prstGeom prst="roundRect">
            <a:avLst>
              <a:gd fmla="val 7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4CC9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67%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 日胜率（做多）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640080" y="3017520"/>
            <a:ext cx="5166360" cy="30175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做多结论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滤波后 30 日收益近乎翻倍（+10.71% → +20.52%）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胜率约 58-65% → 62-67%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信号 85 → 42（少而精）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策略最强、最值得依赖的部分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6172200" y="3017520"/>
            <a:ext cx="5349240" cy="301752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做空结论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做空整体偏弱（BTC 长期上行）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无滤波 30 日约 -3.47%，滤波改善有限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定位：防御/对冲，不做主策略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B96A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信号库共 200 条（做多 86 / 做空 108 / 级联 6）；上述收益取有 30 日完整数据的样本统计。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/>
          <p:nvPr/>
        </p:nvSpPr>
        <p:spPr>
          <a:xfrm>
            <a:off x="8046720" y="7315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0" y="155448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验证与边界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0" y="452628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样本外表现 · 什么时候该用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最诚实的一页：样本外验证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 / 30</a:t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什么是样本外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参数是在历史数据上「训练」优化的；再拿它训练时没见过的、更晚的数据检验——这才算数。</a:t>
            </a:r>
            <a:endParaRPr/>
          </a:p>
        </p:txBody>
      </p:sp>
      <p:graphicFrame>
        <p:nvGraphicFramePr>
          <p:cNvPr id="323" name="Google Shape;323;p26"/>
          <p:cNvGraphicFramePr/>
          <p:nvPr/>
        </p:nvGraphicFramePr>
        <p:xfrm>
          <a:off x="822960" y="269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{BCB6F915-00D1-449E-BB64-1026881BB35B}</a:tableStyleId>
              </a:tblPr>
              <a:tblGrid>
                <a:gridCol w="3200400"/>
                <a:gridCol w="3657600"/>
                <a:gridCol w="36576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 天做多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训练期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样本外（更晚的数据）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平均收益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+7.16%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66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-3.32%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做多胜率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64.6%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66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20.0%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B29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F3F8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夏普比率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4CC9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1.06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0665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-1.07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26"/>
          <p:cNvSpPr/>
          <p:nvPr/>
        </p:nvSpPr>
        <p:spPr>
          <a:xfrm>
            <a:off x="822960" y="4572000"/>
            <a:ext cx="10515600" cy="15087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这说明什么（必须讲清）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训练期很漂亮，但样本外 30 天明显衰减、甚至转负——存在过拟合风险。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所以：全样本的 +20.52% 是历史统计的"上限感受"，不代表未来能稳定复现。把它当"辅助判断"，不是"稳赚承诺"。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什么情况下最适合用它？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 / 30</a:t>
            </a:r>
            <a:endParaRPr/>
          </a:p>
        </p:txBody>
      </p:sp>
      <p:sp>
        <p:nvSpPr>
          <p:cNvPr id="331" name="Google Shape;331;p27"/>
          <p:cNvSpPr/>
          <p:nvPr/>
        </p:nvSpPr>
        <p:spPr>
          <a:xfrm>
            <a:off x="457200" y="1371600"/>
            <a:ext cx="3566160" cy="3657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最适合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明确趋势市：价格站上 MA110/EMA50，做多胜率 62-67%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中长线持有（约 1-4 周）：30 日收益差距最大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右侧交易者：愿放弃最低点、换更高确定性</a:t>
            </a:r>
            <a:endParaRPr/>
          </a:p>
        </p:txBody>
      </p:sp>
      <p:sp>
        <p:nvSpPr>
          <p:cNvPr id="332" name="Google Shape;332;p27"/>
          <p:cNvSpPr/>
          <p:nvPr/>
        </p:nvSpPr>
        <p:spPr>
          <a:xfrm>
            <a:off x="4251960" y="1371600"/>
            <a:ext cx="3566160" cy="3657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要谨慎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震荡/横盘市：均线频繁穿越，滤波反复触发又失效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做空：BTC 长期上行，整体为负，仅作预警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短持有期（1-3 日）：超额小，成本占比高</a:t>
            </a:r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8046720" y="1371600"/>
            <a:ext cx="3566160" cy="36576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665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不适合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日内/高频：信号约 30 天一次，频率不匹配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黑天鹅急跌：任何趋势滤波都滞后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当全自动交易机器人：它是决策辅助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457200" y="5212080"/>
            <a:ext cx="11155680" cy="105156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一句话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超额收益来自"在趋势里做多、并用均线把逆势信号筛掉"。趋势越明确、持有期越长，价值越大；越震荡、越短线，价值越小。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/>
          <p:nvPr/>
        </p:nvSpPr>
        <p:spPr>
          <a:xfrm>
            <a:off x="8046720" y="7315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0" y="155448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>
                <a:solidFill>
                  <a:srgbClr val="6EB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0" y="35661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局限与总结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0" y="452628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7CFD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诚实面对模型的边界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需要注意的事项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 / 30</a:t>
            </a:r>
            <a:endParaRPr/>
          </a:p>
        </p:txBody>
      </p:sp>
      <p:sp>
        <p:nvSpPr>
          <p:cNvPr id="350" name="Google Shape;350;p29"/>
          <p:cNvSpPr/>
          <p:nvPr/>
        </p:nvSpPr>
        <p:spPr>
          <a:xfrm>
            <a:off x="777240" y="1444752"/>
            <a:ext cx="114300" cy="114300"/>
          </a:xfrm>
          <a:prstGeom prst="ellipse">
            <a:avLst/>
          </a:prstGeom>
          <a:solidFill>
            <a:srgbClr val="F066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1051560" y="137160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历史回测 ≠ 未来表现 —— 市场结构会变化</a:t>
            </a:r>
            <a:endParaRPr/>
          </a:p>
        </p:txBody>
      </p:sp>
      <p:sp>
        <p:nvSpPr>
          <p:cNvPr id="352" name="Google Shape;352;p29"/>
          <p:cNvSpPr/>
          <p:nvPr/>
        </p:nvSpPr>
        <p:spPr>
          <a:xfrm>
            <a:off x="777240" y="2011680"/>
            <a:ext cx="114300" cy="114300"/>
          </a:xfrm>
          <a:prstGeom prst="ellipse">
            <a:avLst/>
          </a:prstGeom>
          <a:solidFill>
            <a:srgbClr val="F066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1051560" y="1938528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样本外衰减 —— 训练期漂亮，但 2024 年后 30 天表现明显走弱甚至转负</a:t>
            </a:r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777240" y="2578608"/>
            <a:ext cx="114300" cy="114300"/>
          </a:xfrm>
          <a:prstGeom prst="ellipse">
            <a:avLst/>
          </a:prstGeom>
          <a:solidFill>
            <a:srgbClr val="F066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1051560" y="2505456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论文参数来自股票市场 —— 虽已做 BTC 适配，仍是近似而非精确</a:t>
            </a: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777240" y="3145536"/>
            <a:ext cx="114300" cy="114300"/>
          </a:xfrm>
          <a:prstGeom prst="ellipse">
            <a:avLst/>
          </a:prstGeom>
          <a:solidFill>
            <a:srgbClr val="F066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1051560" y="30723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低频策略 —— 约 30 天触发一次，不适合日内或高频</a:t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777240" y="3712464"/>
            <a:ext cx="114300" cy="114300"/>
          </a:xfrm>
          <a:prstGeom prst="ellipse">
            <a:avLst/>
          </a:prstGeom>
          <a:solidFill>
            <a:srgbClr val="F066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1051560" y="363931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做空效果一般 —— BTC 长期向上，做空天然逆风、胜率偏低</a:t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777240" y="4279392"/>
            <a:ext cx="114300" cy="114300"/>
          </a:xfrm>
          <a:prstGeom prst="ellipse">
            <a:avLst/>
          </a:prstGeom>
          <a:solidFill>
            <a:srgbClr val="F066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1051560" y="42062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极端行情下信号会滞后 —— 黑天鹅事件中任何趋势指标都滞后</a:t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正确定位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BTC Momentum 是辅助决策工具，帮你过滤噪声、提供学术框架支撑的方向判断，但最终决策权在你——不是自动赚钱机器。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0F16"/>
            </a:gs>
            <a:gs pos="100000">
              <a:srgbClr val="121826"/>
            </a:gs>
          </a:gsLst>
          <a:lin ang="5400000" scaled="0"/>
        </a:gra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"/>
          <p:cNvSpPr/>
          <p:nvPr/>
        </p:nvSpPr>
        <p:spPr>
          <a:xfrm>
            <a:off x="8412480" y="4389120"/>
            <a:ext cx="4572000" cy="4572000"/>
          </a:xfrm>
          <a:prstGeom prst="ellipse">
            <a:avLst/>
          </a:prstGeom>
          <a:gradFill>
            <a:gsLst>
              <a:gs pos="0">
                <a:srgbClr val="6EB4FF">
                  <a:alpha val="588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640080" y="32004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总结</a:t>
            </a: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B96A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 / 30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gradFill>
            <a:gsLst>
              <a:gs pos="0">
                <a:srgbClr val="6EB4FF">
                  <a:alpha val="3922"/>
                </a:srgbClr>
              </a:gs>
              <a:gs pos="100000">
                <a:srgbClr val="6EB4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640080" y="1371600"/>
            <a:ext cx="5166360" cy="22860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理论基础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JLST (2025) RFS 论文 — 39 国验证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短期反转(30天) + 中长期动量(270天) 双因子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噪声交易者是关键中介变量</a:t>
            </a: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6172200" y="1371600"/>
            <a:ext cx="5349240" cy="22860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4CC96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落地效果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论文信号 + 三重 MA 滤波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做多 30 日 +20.52%（胜率约 62%）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超额比原始信号相对提升 92%</a:t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640080" y="3840480"/>
            <a:ext cx="10881360" cy="2286000"/>
          </a:xfrm>
          <a:prstGeom prst="roundRect">
            <a:avLst>
              <a:gd fmla="val 6000" name="adj"/>
            </a:avLst>
          </a:prstGeom>
          <a:solidFill>
            <a:srgbClr val="1A2130"/>
          </a:solidFill>
          <a:ln cap="flat" cmpd="sng" w="12700">
            <a:solidFill>
              <a:srgbClr val="323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algn="ctr" dir="5400000" dist="20000">
              <a:srgbClr val="000000">
                <a:alpha val="30196"/>
              </a:srgbClr>
            </a:outerShdw>
          </a:effectLst>
        </p:spPr>
        <p:txBody>
          <a:bodyPr anchorCtr="0" anchor="ctr" bIns="137150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6EB4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从论文到实操的完整链条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论文 → BTC 映射：把"跨股票横截面"改造成"跨时间尺度"，噪声代理换成资金费率+波动率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买卖点作用：三重 MA 滤波把逆势信号筛掉，做多超额 +9.82 个百分点、相对提升 92%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0F3F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•  诚实边界：样本外会衰减、做空逆风、低频、参数近似——它是有学术支撑的方向判断，不是自动赚钱机器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
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194560"/>
            <a:ext cx="1219169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E6EDF3"/>
                </a:solidFill>
                <a:latin typeface="Microsoft YaHei"/>
              </a:rPr>
              <a:t>BTC Momentum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383280"/>
            <a:ext cx="1219169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 i="0">
                <a:solidFill>
                  <a:srgbClr val="8B949E"/>
                </a:solidFill>
                <a:latin typeface="Microsoft YaHei"/>
              </a:rPr>
              <a:t>JLST 反转-动量多信号策略系统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297680"/>
            <a:ext cx="1219169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  <a:latin typeface="Microsoft YaHei"/>
              </a:rPr>
              <a:t>基于 Jegadeesh, Luo, Subrahmanyam &amp; Titman (2025)</a:t>
            </a:r>
          </a:p>
          <a:p>
            <a:pPr algn="ctr"/>
            <a:r>
              <a:rPr sz="1400" b="0" i="1">
                <a:solidFill>
                  <a:srgbClr val="8B949E"/>
                </a:solidFill>
                <a:latin typeface="Microsoft YaHei"/>
              </a:rPr>
              <a:t>Review of Financial Studies — 全球顶级金融学术期刊</a:t>
            </a:r>
          </a:p>
          <a:p>
            <a:pPr algn="ctr"/>
            <a:r>
              <a:rPr sz="1400" b="0" i="0">
                <a:solidFill>
                  <a:srgbClr val="8B949E"/>
                </a:solidFill>
                <a:latin typeface="Microsoft YaHei"/>
              </a:rPr>
              <a:t>回测数据截止 2026-09-07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6EDF3"/>
                </a:solidFill>
                <a:latin typeface="Microsoft YaHei"/>
              </a:rPr>
              <a:t>你可能遇到过这些问题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9260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E6EDF3"/>
                </a:solidFill>
                <a:latin typeface="Microsoft YaHei"/>
              </a:rPr>
              <a:t>BTC 跌了 10%，朋友说"抄底"，你不确定——还会反弹吗？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E6EDF3"/>
                </a:solidFill>
                <a:latin typeface="Microsoft YaHei"/>
              </a:rPr>
              <a:t>BTC 涨了一个月，你想追——趋势还能持续吗？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E6EDF3"/>
                </a:solidFill>
                <a:latin typeface="Microsoft YaHei"/>
              </a:rPr>
              <a:t>看了一堆指标（RSI、MACD、布林带），信号互相矛盾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E6EDF3"/>
                </a:solidFill>
                <a:latin typeface="Microsoft YaHei"/>
              </a:rPr>
              <a:t>想要一个有学术论文支撑、而不是靠"画线"的分析工具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E6EDF3"/>
                </a:solidFill>
                <a:latin typeface="Microsoft YaHei"/>
              </a:rPr>
              <a:t>找到了好信号，但不知道如何叠加多重确认来提高胜率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937760"/>
            <a:ext cx="1088136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58A6FF"/>
                </a:solidFill>
                <a:latin typeface="Microsoft YaHei"/>
              </a:rPr>
              <a:t>BTC Momentum 的价值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JLST 理论信号 + MA 均线多重过滤 → 用学术框架确定方向，用趋势滤波提高精度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6EDF3"/>
                </a:solidFill>
                <a:latin typeface="Microsoft YaHei"/>
              </a:rPr>
              <a:t>论文出处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9260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88136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E6EDF3"/>
                </a:solidFill>
                <a:latin typeface="Microsoft YaHei"/>
              </a:rPr>
              <a:t>N. Jegadeesh, J. Luo, A. Subrahmanyam, S. Titman (2025)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"Short-Term Reversals and Longer-Term Momentum around the World"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Review of Financial Studies (RFS) — 金融学三大顶刊之一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834640"/>
            <a:ext cx="525780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58A6FF"/>
                </a:solidFill>
                <a:latin typeface="Microsoft YaHei"/>
              </a:rPr>
              <a:t>论文做了什么？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研究了 39 个国家股票市场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用同一模型解释"短期反转"与"中长期动量"如何同时存在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发现噪声交易是两者联系的关键纽带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2834640"/>
            <a:ext cx="525780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3FB950"/>
                </a:solidFill>
                <a:latin typeface="Microsoft YaHei"/>
              </a:rPr>
              <a:t>我们做了什么？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将论文理论应用到 BTC 市场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构建实时仪表盘，每日更新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叠加 MA 多信号过滤，将理论收益变为实操策略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开放可配置滤波条件，用户自行调优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0" b="1" i="0">
                <a:solidFill>
                  <a:srgbClr val="58A6FF"/>
                </a:solidFill>
                <a:latin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66160"/>
            <a:ext cx="1219169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E6EDF3"/>
                </a:solidFill>
                <a:latin typeface="Microsoft YaHei"/>
              </a:rPr>
              <a:t>核心概念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480560"/>
            <a:ext cx="1219169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8B949E"/>
                </a:solidFill>
                <a:latin typeface="Microsoft YaHei"/>
              </a:rPr>
              <a:t>短期反转 &amp; 中长期动量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6EDF3"/>
                </a:solidFill>
                <a:latin typeface="Microsoft YaHei"/>
              </a:rPr>
              <a:t>短期反转 vs 中长期动量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9260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525780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D29922"/>
                </a:solidFill>
                <a:latin typeface="Microsoft YaHei"/>
              </a:rPr>
              <a:t>短期反转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"涨多了会回、跌多了会弹"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短期价格含大量情绪化过度反应，几天内被纠正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策略：短期逆着最近几天的极端走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1371600"/>
            <a:ext cx="525780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3FB950"/>
                </a:solidFill>
                <a:latin typeface="Microsoft YaHei"/>
              </a:rPr>
              <a:t>中长期动量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"强者恒强、弱者恒弱"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过去几个月上涨的往往继续涨，趋势有惯性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策略：中长期顺着大趋势走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931920"/>
            <a:ext cx="1088136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BC8CFF"/>
                </a:solidFill>
                <a:latin typeface="Microsoft YaHei"/>
              </a:rPr>
              <a:t>如何共存？——噪声交易者是关键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两者作用在不同时间尺度上，并不冲突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噪声交易者制造短期过度波动（反转来源），其行为在中期形成趋势（动量来源）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噪声越大 → 反转机会越明显；噪声越小、趋势越干净 → 动量越可靠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模型用噪声大小动态调整反转/动量权重 —— 这是它比固定参数指标聪明的地方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6EDF3"/>
                </a:solidFill>
                <a:latin typeface="Microsoft YaHei"/>
              </a:rPr>
              <a:t>综合评分公式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9260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103120"/>
            <a:ext cx="9418320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58A6FF"/>
                </a:solidFill>
                <a:latin typeface="Microsoft YaHei"/>
              </a:rPr>
              <a:t>Composite = w₁·z(Rev) + w₂·z(Mom) + w₃·z(FundingRate)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8813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icrosoft YaHei"/>
              </a:rPr>
              <a:t>三个分量先做标准化（z-score），再按动态权重加权求和。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icrosoft YaHei"/>
              </a:rPr>
              <a:t>权重不是固定的，而是根据当前市场噪声大小实时计算。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  <a:latin typeface="Microsoft YaHei"/>
              </a:rPr>
              <a:t>BTC 适配版额外引入资金费率、波动率分档、减半周期等加密市场特有因子。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0" b="1" i="0">
                <a:solidFill>
                  <a:srgbClr val="58A6FF"/>
                </a:solidFill>
                <a:latin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66160"/>
            <a:ext cx="1219169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E6EDF3"/>
                </a:solidFill>
                <a:latin typeface="Microsoft YaHei"/>
              </a:rPr>
              <a:t>信号系统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480560"/>
            <a:ext cx="1219169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8B949E"/>
                </a:solidFill>
                <a:latin typeface="Microsoft YaHei"/>
              </a:rPr>
              <a:t>从评分到买卖信号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6EDF3"/>
                </a:solidFill>
                <a:latin typeface="Microsoft YaHei"/>
              </a:rPr>
              <a:t>信号产生规则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9260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E6EDF3"/>
                </a:solidFill>
                <a:latin typeface="Microsoft YaHei"/>
              </a:rPr>
              <a:t>评分如何变成信号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综合评分向上突破阈值 → 做多信号（绿色↑）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综合评分向下跌破阈值 → 做空信号（红色↓）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多个条件同时触发 → 级联预警（紫色⚡，强信号）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3FB950"/>
                </a:solidFill>
                <a:latin typeface="Microsoft YaHei"/>
              </a:rPr>
              <a:t>JLST 原始信号前瞻回报（无 MA 滤波）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做多信号 30 天平均 +10.71%，胜率 58%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问题：部分做多信号出现在下跌趋势里（逆势抄底），容易吃套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→ 这正是叠加均线滤波的动机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0" b="1" i="0">
                <a:solidFill>
                  <a:srgbClr val="58A6FF"/>
                </a:solidFill>
                <a:latin typeface="Microsoft Ya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66160"/>
            <a:ext cx="1219169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E6EDF3"/>
                </a:solidFill>
                <a:latin typeface="Microsoft YaHei"/>
              </a:rPr>
              <a:t>多信号策略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480560"/>
            <a:ext cx="1219169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8B949E"/>
                </a:solidFill>
                <a:latin typeface="Microsoft YaHei"/>
              </a:rPr>
              <a:t>JLST + MA 滤波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6EDF3"/>
                </a:solidFill>
                <a:latin typeface="Microsoft YaHei"/>
              </a:rPr>
              <a:t>多信号滤波逻辑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9260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525780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3FB950"/>
                </a:solidFill>
                <a:latin typeface="Microsoft YaHei"/>
              </a:rPr>
              <a:t>做多滤波（三条件全满足）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① 价格 &gt; MA110（大趋势向上）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② MA6 &gt; MA103（短期走强）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③ 价格 &gt; EMA50（中期向上）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只有 JLST 做多信号 + 三条件全满足 = 高质量信号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1371600"/>
            <a:ext cx="525780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85149"/>
                </a:solidFill>
                <a:latin typeface="Microsoft YaHei"/>
              </a:rPr>
              <a:t>做空滤波（价格在均线下方）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价格 &lt; MA110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价格 &lt; EMA50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要求价格在均线下方才保留做空信号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480560"/>
            <a:ext cx="108813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58A6FF"/>
                </a:solidFill>
                <a:latin typeface="Microsoft YaHei"/>
              </a:rPr>
              <a:t>为什么 MA 滤波有效 + 用户可配置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均线是趋势的过滤网：筛掉逆势信号（亏损主要来源），只留顺势信号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三个开关用户自主控制：全勾最严格、可只留一两个、可全取消看原始信号，实时重新统计前瞻收益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0" b="1" i="0">
                <a:solidFill>
                  <a:srgbClr val="58A6FF"/>
                </a:solidFill>
                <a:latin typeface="Microsoft YaHe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66160"/>
            <a:ext cx="1219169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E6EDF3"/>
                </a:solidFill>
                <a:latin typeface="Microsoft YaHei"/>
              </a:rPr>
              <a:t>超额收益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480560"/>
            <a:ext cx="1219169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8B949E"/>
                </a:solidFill>
                <a:latin typeface="Microsoft YaHei"/>
              </a:rPr>
              <a:t>回测截止 2026-09-07 · 信号 200 条（做多 85 / 做空 109）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6EDF3"/>
                </a:solidFill>
                <a:latin typeface="Microsoft YaHei"/>
              </a:rPr>
              <a:t>多信号 vs 原始 JLST（做多）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9260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371600"/>
          <a:ext cx="10515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8B949E"/>
                          </a:solidFill>
                          <a:latin typeface="Microsoft YaHei"/>
                        </a:rPr>
                        <a:t>持有期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8B949E"/>
                          </a:solidFill>
                          <a:latin typeface="Microsoft YaHei"/>
                        </a:rPr>
                        <a:t>JLST 原始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8B949E"/>
                          </a:solidFill>
                          <a:latin typeface="Microsoft YaHei"/>
                        </a:rPr>
                        <a:t>多信号滤波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8B949E"/>
                          </a:solidFill>
                          <a:latin typeface="Microsoft YaHei"/>
                        </a:rPr>
                        <a:t>超额提升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E6EDF3"/>
                          </a:solidFill>
                          <a:latin typeface="Microsoft YaHei"/>
                        </a:rPr>
                        <a:t>1 天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E6EDF3"/>
                          </a:solidFill>
                          <a:latin typeface="Microsoft YaHei"/>
                        </a:rPr>
                        <a:t>+1.12%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FB950"/>
                          </a:solidFill>
                          <a:latin typeface="Microsoft YaHei"/>
                        </a:rPr>
                        <a:t>+1.74%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FB950"/>
                          </a:solidFill>
                          <a:latin typeface="Microsoft YaHei"/>
                        </a:rPr>
                        <a:t>+55%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E6EDF3"/>
                          </a:solidFill>
                          <a:latin typeface="Microsoft YaHei"/>
                        </a:rPr>
                        <a:t>3 天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E6EDF3"/>
                          </a:solidFill>
                          <a:latin typeface="Microsoft YaHei"/>
                        </a:rPr>
                        <a:t>+2.01%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FB950"/>
                          </a:solidFill>
                          <a:latin typeface="Microsoft YaHei"/>
                        </a:rPr>
                        <a:t>+3.50%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FB950"/>
                          </a:solidFill>
                          <a:latin typeface="Microsoft YaHei"/>
                        </a:rPr>
                        <a:t>+74%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E6EDF3"/>
                          </a:solidFill>
                          <a:latin typeface="Microsoft YaHei"/>
                        </a:rPr>
                        <a:t>7 天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E6EDF3"/>
                          </a:solidFill>
                          <a:latin typeface="Microsoft YaHei"/>
                        </a:rPr>
                        <a:t>+3.25%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FB950"/>
                          </a:solidFill>
                          <a:latin typeface="Microsoft YaHei"/>
                        </a:rPr>
                        <a:t>+6.03%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FB950"/>
                          </a:solidFill>
                          <a:latin typeface="Microsoft YaHei"/>
                        </a:rPr>
                        <a:t>+86%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E6EDF3"/>
                          </a:solidFill>
                          <a:latin typeface="Microsoft YaHei"/>
                        </a:rPr>
                        <a:t>30 天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E6EDF3"/>
                          </a:solidFill>
                          <a:latin typeface="Microsoft YaHei"/>
                        </a:rPr>
                        <a:t>+10.71%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FB950"/>
                          </a:solidFill>
                          <a:latin typeface="Microsoft YaHei"/>
                        </a:rPr>
                        <a:t>+20.52%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FB950"/>
                          </a:solidFill>
                          <a:latin typeface="Microsoft YaHei"/>
                        </a:rPr>
                        <a:t>+92%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4572000"/>
            <a:ext cx="1051560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3FB950"/>
                </a:solidFill>
                <a:latin typeface="Microsoft YaHei"/>
              </a:rPr>
              <a:t>核心结论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做多三重滤波后 30 天平均收益 +10.71% → +20.52%（超额 +9.82 个百分点，相对提升 92%）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胜率 58% → 62%。过滤逆势信号是获取超额回报的关键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6EDF3"/>
                </a:solidFill>
                <a:latin typeface="Microsoft YaHei"/>
              </a:rPr>
              <a:t>做多策略 — 最强阿尔法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9260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338328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3FB950"/>
                </a:solidFill>
                <a:latin typeface="Microsoft YaHei"/>
              </a:rPr>
              <a:t>+20.52%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多信号做多 30 日均收益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371600"/>
            <a:ext cx="338328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3FB950"/>
                </a:solidFill>
                <a:latin typeface="Microsoft YaHei"/>
              </a:rPr>
              <a:t>67%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3 天胜率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371600"/>
            <a:ext cx="347472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58A6FF"/>
                </a:solidFill>
                <a:latin typeface="Microsoft YaHei"/>
              </a:rPr>
              <a:t>85 → 42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信号次数（少而精）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108960"/>
            <a:ext cx="1088136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E6EDF3"/>
                </a:solidFill>
                <a:latin typeface="Microsoft YaHei"/>
              </a:rPr>
              <a:t>解读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三重滤波把做多信号从 85 次精简到 42 次 —— 宁可少做，也要做对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各持有期收益全面提升：1天 +55%、3天 +74%、7天 +86%、30天 +92%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胜率区间从 58-65% 抬升到 62-67%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这是整套策略里最稳定、最值得依赖的部分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6EDF3"/>
                </a:solidFill>
                <a:latin typeface="Microsoft YaHei"/>
              </a:rPr>
              <a:t>做空策略 — 诚实面对局限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9260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371600"/>
          <a:ext cx="10515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926080"/>
                <a:gridCol w="292608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8B949E"/>
                          </a:solidFill>
                          <a:latin typeface="Microsoft YaHei"/>
                        </a:rPr>
                        <a:t>持有期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8B949E"/>
                          </a:solidFill>
                          <a:latin typeface="Microsoft YaHei"/>
                        </a:rPr>
                        <a:t>JLST 做空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8B949E"/>
                          </a:solidFill>
                          <a:latin typeface="Microsoft YaHei"/>
                        </a:rPr>
                        <a:t>多信号做空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8B949E"/>
                          </a:solidFill>
                          <a:latin typeface="Microsoft YaHei"/>
                        </a:rPr>
                        <a:t>变化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E6EDF3"/>
                          </a:solidFill>
                          <a:latin typeface="Microsoft YaHei"/>
                        </a:rPr>
                        <a:t>1 天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E6EDF3"/>
                          </a:solidFill>
                          <a:latin typeface="Microsoft YaHei"/>
                        </a:rPr>
                        <a:t>+0.44% (53%)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8B949E"/>
                          </a:solidFill>
                          <a:latin typeface="Microsoft YaHei"/>
                        </a:rPr>
                        <a:t>-0.26% (44%)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E6EDF3"/>
                          </a:solidFill>
                          <a:latin typeface="Microsoft YaHei"/>
                        </a:rPr>
                        <a:t>走弱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E6EDF3"/>
                          </a:solidFill>
                          <a:latin typeface="Microsoft YaHei"/>
                        </a:rPr>
                        <a:t>3 天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E6EDF3"/>
                          </a:solidFill>
                          <a:latin typeface="Microsoft YaHei"/>
                        </a:rPr>
                        <a:t>+0.29% (50%)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8B949E"/>
                          </a:solidFill>
                          <a:latin typeface="Microsoft YaHei"/>
                        </a:rPr>
                        <a:t>-1.04% (44%)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E6EDF3"/>
                          </a:solidFill>
                          <a:latin typeface="Microsoft YaHei"/>
                        </a:rPr>
                        <a:t>走弱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E6EDF3"/>
                          </a:solidFill>
                          <a:latin typeface="Microsoft YaHei"/>
                        </a:rPr>
                        <a:t>7 天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E6EDF3"/>
                          </a:solidFill>
                          <a:latin typeface="Microsoft YaHei"/>
                        </a:rPr>
                        <a:t>+0.76% (52%)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8B949E"/>
                          </a:solidFill>
                          <a:latin typeface="Microsoft YaHei"/>
                        </a:rPr>
                        <a:t>-1.19% (44%)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E6EDF3"/>
                          </a:solidFill>
                          <a:latin typeface="Microsoft YaHei"/>
                        </a:rPr>
                        <a:t>走弱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E6EDF3"/>
                          </a:solidFill>
                          <a:latin typeface="Microsoft YaHei"/>
                        </a:rPr>
                        <a:t>30 天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F85149"/>
                          </a:solidFill>
                          <a:latin typeface="Microsoft YaHei"/>
                        </a:rPr>
                        <a:t>-3.61% (42%)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F85149"/>
                          </a:solidFill>
                          <a:latin typeface="Microsoft YaHei"/>
                        </a:rPr>
                        <a:t>-2.87% (38%)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E6EDF3"/>
                          </a:solidFill>
                          <a:latin typeface="Microsoft YaHei"/>
                        </a:rPr>
                        <a:t>略改善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4572000"/>
            <a:ext cx="1051560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D29922"/>
                </a:solidFill>
                <a:latin typeface="Microsoft YaHei"/>
              </a:rPr>
              <a:t>解读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BTC 长期上行，做空天然逆风：做空 30 天平均 -3.61%、胜率仅 42%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均线下方常是超跌区，加滤波后短期反而更弱、易遇反弹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做空的定位是风险预警与对冲，不宜作为主进攻策略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6EDF3"/>
                </a:solidFill>
                <a:latin typeface="Microsoft YaHei"/>
              </a:rPr>
              <a:t>核心数据总结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9260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33832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3FB950"/>
                </a:solidFill>
                <a:latin typeface="Microsoft YaHei"/>
              </a:rPr>
              <a:t>+20.52%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做多 30 日均收益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371600"/>
            <a:ext cx="33832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58A6FF"/>
                </a:solidFill>
                <a:latin typeface="Microsoft YaHei"/>
              </a:rPr>
              <a:t>+92%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30 日超额提升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371600"/>
            <a:ext cx="347472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D29922"/>
                </a:solidFill>
                <a:latin typeface="Microsoft YaHei"/>
              </a:rPr>
              <a:t>67%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3 日胜率（做多）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017520"/>
            <a:ext cx="525780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3FB950"/>
                </a:solidFill>
                <a:latin typeface="Microsoft YaHei"/>
              </a:rPr>
              <a:t>做多策略结论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MA 滤波后 30 日收益近乎翻倍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胜率 58-65% → 62-67%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信号数 85 → 42（少而精）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每次信号平均 30 日赚 20.52%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3017520"/>
            <a:ext cx="525780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85149"/>
                </a:solidFill>
                <a:latin typeface="Microsoft YaHei"/>
              </a:rPr>
              <a:t>做空策略结论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做空收益整体偏弱（BTC 长期上行）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无滤波 30 日 -3.61%，滤波改善有限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信号数 109 → 45（过滤假信号）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更适合防御/对冲，不做主策略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0" b="1" i="0">
                <a:solidFill>
                  <a:srgbClr val="58A6FF"/>
                </a:solidFill>
                <a:latin typeface="Microsoft YaHe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66160"/>
            <a:ext cx="1219169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E6EDF3"/>
                </a:solidFill>
                <a:latin typeface="Microsoft YaHei"/>
              </a:rPr>
              <a:t>仪表盘功能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480560"/>
            <a:ext cx="1219169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8B949E"/>
                </a:solidFill>
                <a:latin typeface="Microsoft YaHei"/>
              </a:rPr>
              <a:t>看得懂、用得上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6EDF3"/>
                </a:solidFill>
                <a:latin typeface="Microsoft YaHei"/>
              </a:rPr>
              <a:t>交互式 K 线图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9260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525780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58A6FF"/>
                </a:solidFill>
                <a:latin typeface="Microsoft YaHei"/>
              </a:rPr>
              <a:t>价格同轴（趋势）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MA6 · EMA50 · EMA110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MA103 · MA110 · MA200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已实现价格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1371600"/>
            <a:ext cx="525780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BC8CFF"/>
                </a:solidFill>
                <a:latin typeface="Microsoft YaHei"/>
              </a:rPr>
              <a:t>独立轴（估值/链上/情绪）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成交量 · RSI · Mayer · MVRV · NUPL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SMM · 卖方衰竭 · 风险回报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ETF · USDT.D · BTC.D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49039"/>
            <a:ext cx="1088136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3FB950"/>
                </a:solidFill>
                <a:latin typeface="Microsoft YaHei"/>
              </a:rPr>
              <a:t>特色功能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📌 信号标记：一键叠加 JLST 买卖信号（绿↑做多 / 红↓做空 / 紫⚡级联）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对数坐标：长周期看 BTC 更合理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坐标翻转：USDT.D / BTC.D 可翻转，直观看与价格的反向关系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日线/周线切换：指标与信号标记自动适配周线聚合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6EDF3"/>
                </a:solidFill>
                <a:latin typeface="Microsoft YaHei"/>
              </a:rPr>
              <a:t>实操流程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9260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E6EDF3"/>
                </a:solidFill>
                <a:latin typeface="Microsoft YaHei"/>
              </a:rPr>
              <a:t>① 看综合评分和信号方向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E6EDF3"/>
                </a:solidFill>
                <a:latin typeface="Microsoft YaHei"/>
              </a:rPr>
              <a:t>② 看三个 MA 滤波灯是否都绿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3FB950"/>
                </a:solidFill>
                <a:latin typeface="Microsoft YaHei"/>
              </a:rPr>
              <a:t>③ 全绿 = 最高质量做多信号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E6EDF3"/>
                </a:solidFill>
                <a:latin typeface="Microsoft YaHei"/>
              </a:rPr>
              <a:t>④ 结合估值指标（MVRV、NUPL、Mayer）做二次确认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E6EDF3"/>
                </a:solidFill>
                <a:latin typeface="Microsoft YaHei"/>
              </a:rPr>
              <a:t>⑤ 自己决定仓位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572000"/>
            <a:ext cx="1088136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58A6FF"/>
                </a:solidFill>
                <a:latin typeface="Microsoft YaHei"/>
              </a:rPr>
              <a:t>最佳实践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做多 + 三 MA 全满足 = 最高质量信号（历史 30 日 +20.52%）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做空在牛市中谨慎，作减仓/对冲依据；信号约 30 天一次，属低频高质量策略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0" b="1" i="0">
                <a:solidFill>
                  <a:srgbClr val="58A6FF"/>
                </a:solidFill>
                <a:latin typeface="Microsoft YaHe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66160"/>
            <a:ext cx="1219169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E6EDF3"/>
                </a:solidFill>
                <a:latin typeface="Microsoft YaHei"/>
              </a:rPr>
              <a:t>K 线指标撰写规则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480560"/>
            <a:ext cx="1219169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8B949E"/>
                </a:solidFill>
                <a:latin typeface="Microsoft YaHei"/>
              </a:rPr>
              <a:t>每个指标怎么算、怎么读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6EDF3"/>
                </a:solidFill>
                <a:latin typeface="Microsoft YaHei"/>
              </a:rPr>
              <a:t>趋势均线：MA 与 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9260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1148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8B949E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8B949E"/>
                          </a:solidFill>
                          <a:latin typeface="Microsoft YaHei"/>
                        </a:rPr>
                        <a:t>计算规则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8B949E"/>
                          </a:solidFill>
                          <a:latin typeface="Microsoft YaHei"/>
                        </a:rPr>
                        <a:t>解读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E6EDF3"/>
                          </a:solidFill>
                          <a:latin typeface="Microsoft YaHei"/>
                        </a:rPr>
                        <a:t>MA6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E6EDF3"/>
                          </a:solidFill>
                          <a:latin typeface="Microsoft YaHei"/>
                        </a:rPr>
                        <a:t>近 6 日收盘价简单平均 SMA(close,6)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E6EDF3"/>
                          </a:solidFill>
                          <a:latin typeface="Microsoft YaHei"/>
                        </a:rPr>
                        <a:t>超短期趋势；与 MA103 交叉用作多滤波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E6EDF3"/>
                          </a:solidFill>
                          <a:latin typeface="Microsoft YaHei"/>
                        </a:rPr>
                        <a:t>EMA50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E6EDF3"/>
                          </a:solidFill>
                          <a:latin typeface="Microsoft YaHei"/>
                        </a:rPr>
                        <a:t>50 日指数移动平均，α=2/51，近期权重更高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E6EDF3"/>
                          </a:solidFill>
                          <a:latin typeface="Microsoft YaHei"/>
                        </a:rPr>
                        <a:t>中期趋势线；站上=多头，跌破=空头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E6EDF3"/>
                          </a:solidFill>
                          <a:latin typeface="Microsoft YaHei"/>
                        </a:rPr>
                        <a:t>EMA110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E6EDF3"/>
                          </a:solidFill>
                          <a:latin typeface="Microsoft YaHei"/>
                        </a:rPr>
                        <a:t>110 日指数移动平均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E6EDF3"/>
                          </a:solidFill>
                          <a:latin typeface="Microsoft YaHei"/>
                        </a:rPr>
                        <a:t>牛熊分界参考，比 SMA 反应更快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E6EDF3"/>
                          </a:solidFill>
                          <a:latin typeface="Microsoft YaHei"/>
                        </a:rPr>
                        <a:t>MA103 / MA110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E6EDF3"/>
                          </a:solidFill>
                          <a:latin typeface="Microsoft YaHei"/>
                        </a:rPr>
                        <a:t>103 / 110 日简单平均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E6EDF3"/>
                          </a:solidFill>
                          <a:latin typeface="Microsoft YaHei"/>
                        </a:rPr>
                        <a:t>周期性中长期支撑/压力（BTC 半年级别）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E6EDF3"/>
                          </a:solidFill>
                          <a:latin typeface="Microsoft YaHei"/>
                        </a:rPr>
                        <a:t>MA200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E6EDF3"/>
                          </a:solidFill>
                          <a:latin typeface="Microsoft YaHei"/>
                        </a:rPr>
                        <a:t>200 日简单平均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E6EDF3"/>
                          </a:solidFill>
                          <a:latin typeface="Microsoft YaHei"/>
                        </a:rPr>
                        <a:t>长期牛熊线；也是 Mayer 倍数的分母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58A6FF"/>
                </a:solidFill>
                <a:latin typeface="Microsoft YaHei"/>
              </a:rPr>
              <a:t>SMA vs EMA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SMA 窗口内等权、平滑但滞后；EMA 用衰减系数 α 给近期更高权重、转向更快但更易受噪声影响。趋势策略里两者互补。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6EDF3"/>
                </a:solidFill>
                <a:latin typeface="Microsoft YaHei"/>
              </a:rPr>
              <a:t>估值类：Mayer / 已实现价格 / MVRV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9260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11480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8B949E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8B949E"/>
                          </a:solidFill>
                          <a:latin typeface="Microsoft YaHei"/>
                        </a:rPr>
                        <a:t>计算规则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8B949E"/>
                          </a:solidFill>
                          <a:latin typeface="Microsoft YaHei"/>
                        </a:rPr>
                        <a:t>解读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E6EDF3"/>
                          </a:solidFill>
                          <a:latin typeface="Microsoft YaHei"/>
                        </a:rPr>
                        <a:t>Mayer 倍数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E6EDF3"/>
                          </a:solidFill>
                          <a:latin typeface="Microsoft YaHei"/>
                        </a:rPr>
                        <a:t>价格 ÷ MA200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E6EDF3"/>
                          </a:solidFill>
                          <a:latin typeface="Microsoft YaHei"/>
                        </a:rPr>
                        <a:t>&gt;2.4 顶部区；&lt;1 低估区。衡量偏离长期均线程度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E6EDF3"/>
                          </a:solidFill>
                          <a:latin typeface="Microsoft YaHei"/>
                        </a:rPr>
                        <a:t>已实现价格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E6EDF3"/>
                          </a:solidFill>
                          <a:latin typeface="Microsoft YaHei"/>
                        </a:rPr>
                        <a:t>每枚 BTC「最后移动时价格」加权平均（全网成本）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E6EDF3"/>
                          </a:solidFill>
                          <a:latin typeface="Microsoft YaHei"/>
                        </a:rPr>
                        <a:t>市场平均持仓成本线；跌破=多数人浮亏，历史大底常在此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E6EDF3"/>
                          </a:solidFill>
                          <a:latin typeface="Microsoft YaHei"/>
                        </a:rPr>
                        <a:t>MVRV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E6EDF3"/>
                          </a:solidFill>
                          <a:latin typeface="Microsoft YaHei"/>
                        </a:rPr>
                        <a:t>市值 ÷ 已实现市值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E6EDF3"/>
                          </a:solidFill>
                          <a:latin typeface="Microsoft YaHei"/>
                        </a:rPr>
                        <a:t>&gt;3.7 顶部风险；&lt;1 深度低估。全网未实现盈亏比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3FB950"/>
                </a:solidFill>
                <a:latin typeface="Microsoft YaHei"/>
              </a:rPr>
              <a:t>为什么重要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估值类提供「贵不贵」的锚，与趋势类「涨不涨」互补——趋势告诉你方向，估值告诉你位置。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6EDF3"/>
                </a:solidFill>
                <a:latin typeface="Microsoft YaHei"/>
              </a:rPr>
              <a:t>链上情绪：NUPL / SMM / 卖方衰竭 / 风险回报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9260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72000"/>
                <a:gridCol w="4114800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8B949E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8B949E"/>
                          </a:solidFill>
                          <a:latin typeface="Microsoft YaHei"/>
                        </a:rPr>
                        <a:t>计算规则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8B949E"/>
                          </a:solidFill>
                          <a:latin typeface="Microsoft YaHei"/>
                        </a:rPr>
                        <a:t>解读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E6EDF3"/>
                          </a:solidFill>
                          <a:latin typeface="Microsoft YaHei"/>
                        </a:rPr>
                        <a:t>NUPL 净未实现盈亏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E6EDF3"/>
                          </a:solidFill>
                          <a:latin typeface="Microsoft YaHei"/>
                        </a:rPr>
                        <a:t>(市值 − 已实现市值) ÷ 市值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E6EDF3"/>
                          </a:solidFill>
                          <a:latin typeface="Microsoft YaHei"/>
                        </a:rPr>
                        <a:t>&gt;0.75 极度贪婪；&lt;0 全网浮亏（投降/大底）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E6EDF3"/>
                          </a:solidFill>
                          <a:latin typeface="Microsoft YaHei"/>
                        </a:rPr>
                        <a:t>SMM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E6EDF3"/>
                          </a:solidFill>
                          <a:latin typeface="Microsoft YaHei"/>
                        </a:rPr>
                        <a:t>链上花费产出的动量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E6EDF3"/>
                          </a:solidFill>
                          <a:latin typeface="Microsoft YaHei"/>
                        </a:rPr>
                        <a:t>反映抛压动能变化，捕捉筹码换手节奏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E6EDF3"/>
                          </a:solidFill>
                          <a:latin typeface="Microsoft YaHei"/>
                        </a:rPr>
                        <a:t>卖方衰竭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E6EDF3"/>
                          </a:solidFill>
                          <a:latin typeface="Microsoft YaHei"/>
                        </a:rPr>
                        <a:t>波动率 × 长期持有者未实现亏损占比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E6EDF3"/>
                          </a:solidFill>
                          <a:latin typeface="Microsoft YaHei"/>
                        </a:rPr>
                        <a:t>走高=抛售动能耗尽，常见于底部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E6EDF3"/>
                          </a:solidFill>
                          <a:latin typeface="Microsoft YaHei"/>
                        </a:rPr>
                        <a:t>风险回报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E6EDF3"/>
                          </a:solidFill>
                          <a:latin typeface="Microsoft YaHei"/>
                        </a:rPr>
                        <a:t>历史价格分布的下行风险 vs 上行空间比值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E6EDF3"/>
                          </a:solidFill>
                          <a:latin typeface="Microsoft YaHei"/>
                        </a:rPr>
                        <a:t>越低=当前介入性价比越高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8B949E"/>
                </a:solidFill>
                <a:latin typeface="Microsoft YaHei"/>
              </a:rPr>
              <a:t>链上数据来自 CryptoQuant，按日期对齐到 K 线；周线视图取每周最后一个值。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6EDF3"/>
                </a:solidFill>
                <a:latin typeface="Microsoft YaHei"/>
              </a:rPr>
              <a:t>资金流与情绪：ETF / USDT.D / BTC.D / 资金费率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9260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114800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8B949E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8B949E"/>
                          </a:solidFill>
                          <a:latin typeface="Microsoft YaHei"/>
                        </a:rPr>
                        <a:t>计算规则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8B949E"/>
                          </a:solidFill>
                          <a:latin typeface="Microsoft YaHei"/>
                        </a:rPr>
                        <a:t>解读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E6EDF3"/>
                          </a:solidFill>
                          <a:latin typeface="Microsoft YaHei"/>
                        </a:rPr>
                        <a:t>ETF 净流入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E6EDF3"/>
                          </a:solidFill>
                          <a:latin typeface="Microsoft YaHei"/>
                        </a:rPr>
                        <a:t>现货 BTC ETF 每日净申赎（百万美元），周线求和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E6EDF3"/>
                          </a:solidFill>
                          <a:latin typeface="Microsoft YaHei"/>
                        </a:rPr>
                        <a:t>正=机构增持进场；持续净流出=需求转弱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E6EDF3"/>
                          </a:solidFill>
                          <a:latin typeface="Microsoft YaHei"/>
                        </a:rPr>
                        <a:t>USDT.D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E6EDF3"/>
                          </a:solidFill>
                          <a:latin typeface="Microsoft YaHei"/>
                        </a:rPr>
                        <a:t>USDT 市值 ÷ 加密总市值（%）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E6EDF3"/>
                          </a:solidFill>
                          <a:latin typeface="Microsoft YaHei"/>
                        </a:rPr>
                        <a:t>升=资金避险（利空）；降=资金进场（利多）。与 BTC 常反向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E6EDF3"/>
                          </a:solidFill>
                          <a:latin typeface="Microsoft YaHei"/>
                        </a:rPr>
                        <a:t>BTC.D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E6EDF3"/>
                          </a:solidFill>
                          <a:latin typeface="Microsoft YaHei"/>
                        </a:rPr>
                        <a:t>BTC 市值 ÷ 加密总市值（%）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E6EDF3"/>
                          </a:solidFill>
                          <a:latin typeface="Microsoft YaHei"/>
                        </a:rPr>
                        <a:t>升=资金集中 BTC；降=流向山寨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E6EDF3"/>
                          </a:solidFill>
                          <a:latin typeface="Microsoft YaHei"/>
                        </a:rPr>
                        <a:t>资金费率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E6EDF3"/>
                          </a:solidFill>
                          <a:latin typeface="Microsoft YaHei"/>
                        </a:rPr>
                        <a:t>永续合约多空平衡费率，每 8h 结算，取日均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E6EDF3"/>
                          </a:solidFill>
                          <a:latin typeface="Microsoft YaHei"/>
                        </a:rPr>
                        <a:t>正=多头拥挤；极端正值常预示回调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D29922"/>
                </a:solidFill>
                <a:latin typeface="Microsoft YaHei"/>
              </a:rPr>
              <a:t>资金费率的特殊地位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它是 JLST 动态权重中噪声代理的组成部分（占 30% 权重）——费率越极端，模型越调低动量权重、调高反转权重。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6EDF3"/>
                </a:solidFill>
                <a:latin typeface="Microsoft YaHei"/>
              </a:rPr>
              <a:t>什么情况下最适合用多策略？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9260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361188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3FB950"/>
                </a:solidFill>
                <a:latin typeface="Microsoft YaHei"/>
              </a:rPr>
              <a:t>✅ 最适合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明确趋势市：价格站上 MA110/EMA50，做多胜率 62-67%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中长线持有（1-4 周）：30 日收益差距最大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右侧交易者：愿放弃最低点换确定性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371600"/>
            <a:ext cx="361188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D29922"/>
                </a:solidFill>
                <a:latin typeface="Microsoft YaHei"/>
              </a:rPr>
              <a:t>⚠️ 谨慎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震荡/横盘市：均线频繁穿越，滤波反复触发又失效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做空：BTC 长期上行，整体为负，仅作预警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短持有期（1-3 日）：超额小，成本占比高</a:t>
            </a:r>
          </a:p>
        </p:txBody>
      </p:sp>
      <p:sp>
        <p:nvSpPr>
          <p:cNvPr id="6" name="Rectangle 5"/>
          <p:cNvSpPr/>
          <p:nvPr/>
        </p:nvSpPr>
        <p:spPr>
          <a:xfrm>
            <a:off x="8092440" y="1371600"/>
            <a:ext cx="361188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85149"/>
                </a:solidFill>
                <a:latin typeface="Microsoft YaHei"/>
              </a:rPr>
              <a:t>❌ 不适合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日内/高频：信号约 30 天一次，频率不匹配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黑天鹅急跌：任何趋势滤波都滞后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当自动交易机器人：它是决策辅助，非全自动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212080"/>
            <a:ext cx="112014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58A6FF"/>
                </a:solidFill>
                <a:latin typeface="Microsoft YaHei"/>
              </a:rPr>
              <a:t>一句话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多策略的超额收益来自「在趋势里做多、并用均线把逆势信号筛掉」。趋势越明确、持有期越长，价值越大；越震荡、越短线，价值越小。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0" b="1" i="0">
                <a:solidFill>
                  <a:srgbClr val="58A6FF"/>
                </a:solidFill>
                <a:latin typeface="Microsoft YaHe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66160"/>
            <a:ext cx="1219169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E6EDF3"/>
                </a:solidFill>
                <a:latin typeface="Microsoft YaHei"/>
              </a:rPr>
              <a:t>局限与总结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480560"/>
            <a:ext cx="1219169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8B949E"/>
                </a:solidFill>
                <a:latin typeface="Microsoft YaHei"/>
              </a:rPr>
              <a:t>诚实面对模型的边界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6EDF3"/>
                </a:solidFill>
                <a:latin typeface="Microsoft YaHei"/>
              </a:rPr>
              <a:t>需要注意的事项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9260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icrosoft YaHei"/>
              </a:rPr>
              <a:t>历史回测 ≠ 未来表现 —— 市场结构会变化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icrosoft YaHei"/>
              </a:rPr>
              <a:t>论文参数来自股票市场 —— 虽已做 BTC 适配，仍是近似而非精确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icrosoft YaHei"/>
              </a:rPr>
              <a:t>低频策略 —— 约 30 天触发一次，不适合日内或高频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icrosoft YaHei"/>
              </a:rPr>
              <a:t>做空信号效果一般 —— BTC 长期向上，做空天然逆风、胜率偏低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icrosoft YaHei"/>
              </a:rPr>
              <a:t>MA 参数有优化空间 —— 当前 MA110/MA103/EMA50 基于经验，用户可自调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icrosoft YaHei"/>
              </a:rPr>
              <a:t>极端行情下信号会滞后 —— 黑天鹅事件中任何趋势指标都滞后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212080"/>
            <a:ext cx="108813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D29922"/>
                </a:solidFill>
                <a:latin typeface="Microsoft YaHei"/>
              </a:rPr>
              <a:t>正确定位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BTC Momentum 是辅助决策工具，帮你过滤噪声、提供学术框架支撑的方向判断，但最终决策权在你——不是自动赚钱机器。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6EDF3"/>
                </a:solidFill>
                <a:latin typeface="Microsoft YaHei"/>
              </a:rPr>
              <a:t>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9260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525780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58A6FF"/>
                </a:solidFill>
                <a:latin typeface="Microsoft YaHei"/>
              </a:rPr>
              <a:t>🔬 理论基础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JLST (2025) RFS 论文 — 39 国验证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短期反转 + 中长期动量双因子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噪声交易者是关键中介变量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1371600"/>
            <a:ext cx="525780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3FB950"/>
                </a:solidFill>
                <a:latin typeface="Microsoft YaHei"/>
              </a:rPr>
              <a:t>🎯 多信号策略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JLST 信号 + MA110/MA6&gt;MA103/EMA50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做多 30 日 +20.52%（胜率 62%）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超额比原始信号提升 92%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49039"/>
            <a:ext cx="1088136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BC8CFF"/>
                </a:solidFill>
                <a:latin typeface="Microsoft YaHei"/>
              </a:rPr>
              <a:t>🖥️ 工具特色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每日自动更新数据 · 近 20 个技术/链上指标 + 信号标记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5 个可配置 MA 滤波条件 · 日线/周线 · 暗/亮主题 · 三图时间轴联动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Microsoft YaHei"/>
              </a:rPr>
              <a:t>• 把严谨的学术框架，变成你每天都能打开、看得懂、用得上的东西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
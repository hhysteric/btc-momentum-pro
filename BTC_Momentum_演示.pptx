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828800" y="-1371600"/>
            <a:ext cx="6400800" cy="64008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686800" y="4114800"/>
            <a:ext cx="5486400" cy="54864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0F3F8"/>
                </a:solidFill>
                <a:latin typeface="Segoe UI"/>
                <a:ea typeface="Segoe UI"/>
              </a:rPr>
              <a:t>BTC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6324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 i="0">
                <a:solidFill>
                  <a:srgbClr val="C7CFDC"/>
                </a:solidFill>
                <a:latin typeface="Microsoft YaHei"/>
                <a:ea typeface="Microsoft YaHei"/>
              </a:rPr>
              <a:t>JLST 反转-动量多信号策略系统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97680"/>
            <a:ext cx="121916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C7CFDC"/>
                </a:solidFill>
                <a:latin typeface="Microsoft YaHei"/>
                <a:ea typeface="Microsoft YaHei"/>
              </a:rPr>
              <a:t>基于 Jegadeesh, Luo, Subrahmanyam &amp; Titman (2025)</a:t>
            </a:r>
          </a:p>
          <a:p>
            <a:pPr algn="ctr">
              <a:spcAft>
                <a:spcPts val="700"/>
              </a:spcAft>
            </a:pPr>
            <a:r>
              <a:rPr sz="1400" b="0" i="1">
                <a:solidFill>
                  <a:srgbClr val="C7CFDC"/>
                </a:solidFill>
                <a:latin typeface="Microsoft YaHei"/>
                <a:ea typeface="Microsoft YaHei"/>
              </a:rPr>
              <a:t>Review of Financial Studies — 全球顶级金融学术期刊</a:t>
            </a:r>
          </a:p>
          <a:p>
            <a:pPr algn="ctr">
              <a:spcAft>
                <a:spcPts val="700"/>
              </a:spcAft>
            </a:pPr>
            <a:r>
              <a:rPr sz="1400" b="0" i="0">
                <a:solidFill>
                  <a:srgbClr val="C7CFDC"/>
                </a:solidFill>
                <a:latin typeface="Microsoft YaHei"/>
                <a:ea typeface="Microsoft YaHei"/>
              </a:rPr>
              <a:t>回测数据截止 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你可能遇到过这些问题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02 / 21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463040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BTC 跌了 10%，朋友说"抄底"，你不确定——还会反弹吗？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066544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75104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BTC 涨了一个月，你想追——趋势还能持续吗？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670048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看了一堆指标（RSI、MACD、布林带），信号互相矛盾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73552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想要一个有学术论文支撑、而不是靠"画线"的分析工具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877056"/>
            <a:ext cx="114300" cy="114300"/>
          </a:xfrm>
          <a:prstGeom prst="ellipse">
            <a:avLst/>
          </a:prstGeom>
          <a:solidFill>
            <a:srgbClr val="6E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785616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F0F3F8"/>
                </a:solidFill>
                <a:latin typeface="Microsoft YaHei"/>
                <a:ea typeface="Microsoft YaHei"/>
              </a:rPr>
              <a:t>找到了好信号，但不知道如何叠加多重确认来提高胜率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BTC Momentum 的价值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JLST 理论信号 + MA 均线多重过滤 → 用学术框架确定方向，用趋势滤波提高精度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论文出处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03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881360" cy="13258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N. Jegadeesh, J. Luo, A. Subrahmanyam, S. Titman (2025)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"Short-Term Reversals and Longer-Term Momentum around the World"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Review of Financial Studies (RFS) — 金融学三大顶刊之一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80360"/>
            <a:ext cx="516636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论文做了什么？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研究了 39 个国家股票市场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用同一模型解释"短期反转"与"中长期动量"如何同时存在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发现噪声交易是两者联系的关键纽带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880360"/>
            <a:ext cx="5349240" cy="31089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我们做了什么？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将论文理论应用到 BTC 市场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构建实时仪表盘，每日更新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叠加 MA 多信号过滤，将理论收益变为实操策略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开放可配置滤波条件，用户自行调优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核心概念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短期反转 &amp; 中长期动量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短期反转 vs 中长期动量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05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16636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短期反转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"涨多了会回、跌多了会弹"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短期价格含大量情绪化过度反应，几天内被纠正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策略：短期逆着最近几天的极端走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中长期动量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"强者恒强、弱者恒弱"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过去几个月上涨的往往继续涨，趋势有惯性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策略：中长期顺着大趋势走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40480"/>
            <a:ext cx="10881360" cy="23774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如何共存？——噪声交易者是关键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两者作用在不同时间尺度上，并不冲突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噪声交易者制造短期过度波动（反转来源），其行为在中期形成趋势（动量来源）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噪声越大 → 反转机会越明显；噪声越小、趋势越干净 → 动量越可靠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模型用噪声大小动态调整反转/动量权重 —— 这是它比固定参数指标聪明的地方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综合评分公式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06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332720" cy="1371600"/>
          </a:xfrm>
          <a:prstGeom prst="roundRect">
            <a:avLst>
              <a:gd name="adj" fmla="val 7000"/>
            </a:avLst>
          </a:prstGeom>
          <a:solidFill>
            <a:srgbClr val="1A2332"/>
          </a:solidFill>
          <a:ln w="12700">
            <a:solidFill>
              <a:srgbClr val="2E4160"/>
            </a:solidFill>
          </a:ln>
          <a:effectLst>
            <a:outerShdw blurRad="50000" dist="250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6EB4FF"/>
                </a:solidFill>
                <a:latin typeface="Segoe UI"/>
                <a:ea typeface="Segoe UI"/>
              </a:rPr>
              <a:t>Composite = w₁·z(Rev) + w₂·z(Mom) + w₃·z(FundingRate)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66160"/>
            <a:ext cx="108813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F0F3F8"/>
                </a:solidFill>
                <a:latin typeface="Microsoft YaHei"/>
                <a:ea typeface="Microsoft YaHei"/>
              </a:rPr>
              <a:t>三个分量先做标准化（z-score），再按动态权重加权求和。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F0F3F8"/>
                </a:solidFill>
                <a:latin typeface="Microsoft YaHei"/>
                <a:ea typeface="Microsoft YaHei"/>
              </a:rPr>
              <a:t>权重不是固定的，而是根据当前市场噪声大小实时计算。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C7CFDC"/>
                </a:solidFill>
                <a:latin typeface="Microsoft YaHei"/>
                <a:ea typeface="Microsoft YaHei"/>
              </a:rPr>
              <a:t>BTC 适配版额外引入资金费率、波动率分档、减半周期等加密市场特有因子。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如何把股票论文映射到 BTC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07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16636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论文原始设定（股票）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研究对象：39 国股票市场的横截面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反转 / 动量：跨个股排序、多空组合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噪声代理：换手率、买卖价差等微观结构变量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因子在个股之间比较，赚的是横截面价差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2588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BTC 适配版（单一资产·时序）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研究对象：BTC 单一资产的时间序列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反转 / 动量：同一资产不同时间尺度的自相关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噪声代理：资金费率 + 波动率分档（占 30% 权重）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额外引入减半周期等加密特有因子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26280"/>
            <a:ext cx="10881360" cy="16002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映射的核心难点与解法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难点：论文靠「多只股票横向比较」，BTC 只有一个标的，无法做横截面排序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解法：把「跨资产比较」改成「跨时间尺度比较」——短期 z 分做反转、中长期 z 分做动量，噪声代理换成加密市场能实时观测的资金费率与波动率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信号系统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从评分到买卖信号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信号产生规则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09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20116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评分如何变成信号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综合评分向上突破阈值 → 做多信号（绿色↑）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综合评分向下跌破阈值 → 做空信号（红色↓）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多个条件同时触发 → 级联预警（强信号）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611880"/>
            <a:ext cx="10881360" cy="24688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JLST 原始信号前瞻回报（无 MA 滤波）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做多信号 30 天平均 +10.71%，胜率 58%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问题：部分做多信号出现在下跌趋势里（逆势抄底），容易吃套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→ 这正是叠加均线滤波的动机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多信号策略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JLST + MA 滤波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多信号滤波逻辑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11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16636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做多滤波（三条件全满足）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① 价格 &gt; MA110（大趋势向上）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② MA6 &gt; MA103（短期走强）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③ 价格 &gt; EMA50（中期向上）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只有 JLST 做多信号 + 三条件全满足 = 高质量信号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34924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做空滤波（价格在均线下方）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价格 &lt; MA110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价格 &lt; EMA50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要求价格在均线下方才保留做空信号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48056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为什么 MA 滤波有效 + 用户可配置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均线是趋势的过滤网：筛掉逆势信号（亏损主要来源），只留顺势信号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三个开关用户自主控制：全勾最严格、可只留一两个、可全取消看原始信号，实时重新统计前瞻收益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超额收益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回测截止 2026-09-07 · 信号 200 条（做多 85 / 做空 109）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多信号 vs 原始 JLST（做多）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13 / 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743200"/>
                <a:gridCol w="27432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持有期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JLST 原始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多信号滤波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超额提升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1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+1.12%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+1.74%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+55%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+2.01%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+3.50%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+74%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7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+3.25%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+6.03%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+86%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30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+10.71%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+20.52%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4CC964"/>
                          </a:solidFill>
                          <a:latin typeface="Microsoft YaHei"/>
                          <a:ea typeface="Microsoft YaHei"/>
                        </a:rPr>
                        <a:t>+92%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46177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核心结论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做多三重滤波后 30 天平均收益 +10.71% → +20.52%（超额 +9.82 个百分点，相对提升 92%）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胜率 58% → 62%。过滤逆势信号是获取超额回报的关键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做多策略 — 最强阿尔法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14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29184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+20.52%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多信号做多 30 日均收益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371600"/>
            <a:ext cx="329184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67%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3 天胜率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611880" cy="155448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6EB4FF"/>
                </a:solidFill>
                <a:latin typeface="Segoe UI"/>
                <a:ea typeface="Segoe UI"/>
              </a:rPr>
              <a:t>85 → 42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信号次数（少而精）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10881360" cy="29260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解读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三重滤波把做多信号从 85 次精简到 42 次 —— 宁可少做，也要做对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各持有期收益全面提升：1天 +55%、3天 +74%、7天 +86%、30天 +92%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胜率区间从 58-65% 抬升到 62-67%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这是整套策略里最稳定、最值得依赖的部分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做空策略 — 诚实面对局限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15 / 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926080"/>
                <a:gridCol w="2926080"/>
                <a:gridCol w="25603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持有期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JLST 做空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多信号做空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变化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1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+0.44% (53%)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C7CFDC"/>
                          </a:solidFill>
                          <a:latin typeface="Microsoft YaHei"/>
                          <a:ea typeface="Microsoft YaHei"/>
                        </a:rPr>
                        <a:t>-0.26% (44%)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走弱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+0.29% (50%)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C7CFDC"/>
                          </a:solidFill>
                          <a:latin typeface="Microsoft YaHei"/>
                          <a:ea typeface="Microsoft YaHei"/>
                        </a:rPr>
                        <a:t>-1.04% (44%)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走弱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7 天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+0.76% (52%)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C7CFDC"/>
                          </a:solidFill>
                          <a:latin typeface="Microsoft YaHei"/>
                          <a:ea typeface="Microsoft YaHei"/>
                        </a:rPr>
                        <a:t>-1.19% (44%)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走弱</a:t>
                      </a:r>
                    </a:p>
                  </a:txBody>
                  <a:tcPr anchor="ctr">
                    <a:solidFill>
                      <a:srgbClr val="1A213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38912">
                <a:tc>
                  <a:txBody>
                    <a:bodyPr lIns="137160"/>
                    <a:lstStyle/>
                    <a:p>
                      <a:pPr algn="l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30 天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665E"/>
                          </a:solidFill>
                          <a:latin typeface="Microsoft YaHei"/>
                          <a:ea typeface="Microsoft YaHei"/>
                        </a:rPr>
                        <a:t>-3.61% (42%)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665E"/>
                          </a:solidFill>
                          <a:latin typeface="Microsoft YaHei"/>
                          <a:ea typeface="Microsoft YaHei"/>
                        </a:rPr>
                        <a:t>-2.87% (38%)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37160"/>
                    <a:lstStyle/>
                    <a:p>
                      <a:pPr algn="ctr"/>
                      <a:r>
                        <a:rPr sz="1300" b="0" i="0">
                          <a:solidFill>
                            <a:srgbClr val="F0F3F8"/>
                          </a:solidFill>
                          <a:latin typeface="Microsoft YaHei"/>
                          <a:ea typeface="Microsoft YaHei"/>
                        </a:rPr>
                        <a:t>略改善</a:t>
                      </a:r>
                    </a:p>
                  </a:txBody>
                  <a:tcPr anchor="ctr">
                    <a:solidFill>
                      <a:srgbClr val="141B2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461772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解读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BTC 长期上行，做空天然逆风：做空 30 天平均 -3.61%、胜率仅 42%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均线下方常是超跌区，加滤波后短期反而更弱、易遇反弹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做空的定位是风险预警与对冲，不宜作为主进攻策略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核心数据总结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16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+20.52%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做多 30 日均收益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37160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6EB4FF"/>
                </a:solidFill>
                <a:latin typeface="Segoe UI"/>
                <a:ea typeface="Segoe UI"/>
              </a:rPr>
              <a:t>+92%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30 日超额提升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611880" cy="1371600"/>
          </a:xfrm>
          <a:prstGeom prst="roundRect">
            <a:avLst>
              <a:gd name="adj" fmla="val 7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3800" b="1" i="0">
                <a:solidFill>
                  <a:srgbClr val="4CC964"/>
                </a:solidFill>
                <a:latin typeface="Segoe UI"/>
                <a:ea typeface="Segoe UI"/>
              </a:rPr>
              <a:t>67%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C7CFDC"/>
                </a:solidFill>
                <a:latin typeface="Microsoft YaHei"/>
                <a:ea typeface="Microsoft YaHei"/>
              </a:rPr>
              <a:t>3 日胜率（做多）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516636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做多策略结论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MA 滤波后 30 日收益近乎翻倍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胜率 58-65% → 62-67%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信号数 85 → 42（少而精）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每次信号平均 30 日赚 20.52%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01752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做空策略结论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做空收益整体偏弱（BTC 长期上行）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无滤波 30 日 -3.61%，滤波改善有限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信号数 109 → 45（过滤假信号）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更适合防御/对冲，不做主策略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适用边界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什么时候该用它、什么时候别用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什么情况下最适合用多策略？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18 / 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最适合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明确趋势市：价格站上 MA110/EMA50，做多胜率 62-67%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中长线持有（1-4 周）：30 日收益差距最大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右侧交易者：愿放弃最低点换确定性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谨慎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震荡/横盘市：均线频繁穿越，滤波反复触发又失效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做空：BTC 长期上行，整体为负，仅作预警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短持有期（1-3 日）：超额小，成本占比高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665E"/>
                </a:solidFill>
                <a:latin typeface="Microsoft YaHei"/>
                <a:ea typeface="Microsoft YaHei"/>
              </a:rPr>
              <a:t>不适合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日内/高频：信号约 30 天一次，频率不匹配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黑天鹅急跌：任何趋势滤波都滞后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400" b="0" i="0">
                <a:solidFill>
                  <a:srgbClr val="F0F3F8"/>
                </a:solidFill>
                <a:latin typeface="Microsoft YaHei"/>
                <a:ea typeface="Microsoft YaHei"/>
              </a:rPr>
              <a:t>•  当自动交易机器人：它是决策辅助，非全自动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212080"/>
            <a:ext cx="11155680" cy="105156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一句话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多策略的超额收益来自「在趋势里做多、并用均线把逆势信号筛掉」。趋势越明确、持有期越长，价值越大；越震荡、越短线，价值越小。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46720" y="7315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097280" y="384048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solidFill>
                  <a:srgbClr val="6EB4FF"/>
                </a:solidFill>
                <a:latin typeface="Segoe UI"/>
                <a:ea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F0F3F8"/>
                </a:solidFill>
                <a:latin typeface="Microsoft YaHei"/>
                <a:ea typeface="Microsoft YaHei"/>
              </a:rPr>
              <a:t>局限与总结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C7CFDC"/>
                </a:solidFill>
                <a:latin typeface="Microsoft YaHei"/>
                <a:ea typeface="Microsoft YaHei"/>
              </a:rPr>
              <a:t>诚实面对模型的边界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需要注意的事项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20 / 21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444752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历史回测 ≠ 未来表现 —— 市场结构会变化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011680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论文参数来自股票市场 —— 虽已做 BTC 适配，仍是近似而非精确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578608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0545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低频策略 —— 约 30 天触发一次，不适合日内或高频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5536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723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做空信号效果一般 —— BTC 长期向上，做空天然逆风、胜率偏低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12464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3931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MA 参数有优化空间 —— 当前 MA110/MA103/EMA50 基于经验，用户可自调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279392"/>
            <a:ext cx="114300" cy="114300"/>
          </a:xfrm>
          <a:prstGeom prst="ellipse">
            <a:avLst/>
          </a:prstGeom>
          <a:solidFill>
            <a:srgbClr val="F06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2062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极端行情下信号会滞后 —— 黑天鹅事件中任何趋势指标都滞后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3776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F0F3F8"/>
                </a:solidFill>
                <a:latin typeface="Microsoft YaHei"/>
                <a:ea typeface="Microsoft YaHei"/>
              </a:rPr>
              <a:t>正确定位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BTC Momentum 是辅助决策工具，帮你过滤噪声、提供学术框架支撑的方向判断，但最终决策权在你——不是自动赚钱机器。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B0F16"/>
            </a:gs>
            <a:gs pos="100000">
              <a:srgbClr val="121826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6EB4FF">
                  <a:alpha val="6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412480" y="438912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418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F0F3F8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84048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B96AC"/>
                </a:solidFill>
                <a:latin typeface="Segoe UI"/>
                <a:ea typeface="Segoe UI"/>
              </a:rPr>
              <a:t>21 / 21</a:t>
            </a:r>
          </a:p>
        </p:txBody>
      </p:sp>
      <p:sp>
        <p:nvSpPr>
          <p:cNvPr id="5" name="Oval 4"/>
          <p:cNvSpPr/>
          <p:nvPr/>
        </p:nvSpPr>
        <p:spPr>
          <a:gradFill>
            <a:gsLst>
              <a:gs pos="0">
                <a:srgbClr val="6EB4FF">
                  <a:alpha val="4000"/>
                </a:srgbClr>
              </a:gs>
              <a:gs pos="100000">
                <a:srgbClr val="6EB4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371600" y="45720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16636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理论基础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JLST (2025) RFS 论文 — 39 国验证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短期反转 + 中长期动量双因子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噪声交易者是关键中介变量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4CC964"/>
                </a:solidFill>
                <a:latin typeface="Microsoft YaHei"/>
                <a:ea typeface="Microsoft YaHei"/>
              </a:rPr>
              <a:t>多信号策略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JLST 信号 + MA110/MA6&gt;MA103/EMA50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做多 30 日 +20.52%（胜率 62%）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超额比原始信号提升 92%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2286000"/>
          </a:xfrm>
          <a:prstGeom prst="roundRect">
            <a:avLst>
              <a:gd name="adj" fmla="val 6000"/>
            </a:avLst>
          </a:prstGeom>
          <a:solidFill>
            <a:srgbClr val="1A2130"/>
          </a:solidFill>
          <a:ln w="12700">
            <a:solidFill>
              <a:srgbClr val="323B4E"/>
            </a:solidFill>
          </a:ln>
          <a:effectLst>
            <a:outerShdw blurRad="40000" dist="20000" dir="5400000" algn="ctr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37160"/>
          <a:lstStyle/>
          <a:p>
            <a:pPr algn="ctr">
              <a:spcAft>
                <a:spcPts val="1000"/>
              </a:spcAft>
            </a:pPr>
            <a:r>
              <a:rPr sz="1700" b="1" i="0">
                <a:solidFill>
                  <a:srgbClr val="6EB4FF"/>
                </a:solidFill>
                <a:latin typeface="Microsoft YaHei"/>
                <a:ea typeface="Microsoft YaHei"/>
              </a:rPr>
              <a:t>从论文到实操的完整链条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论文 → BTC 映射：把「跨股票横截面」改造成「跨时间尺度」，噪声代理换成资金费率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买卖点作用：三重 MA 滤波把逆势信号筛掉，做多超额 +9.82 个百分点、相对提升 92%</a:t>
            </a:r>
          </a:p>
          <a:p>
            <a:pPr>
              <a:spcBef>
                <a:spcPts val="100"/>
              </a:spcBef>
              <a:spcAft>
                <a:spcPts val="700"/>
              </a:spcAft>
            </a:pPr>
            <a:r>
              <a:rPr sz="1500" b="0" i="0">
                <a:solidFill>
                  <a:srgbClr val="F0F3F8"/>
                </a:solidFill>
                <a:latin typeface="Microsoft YaHei"/>
                <a:ea typeface="Microsoft YaHei"/>
              </a:rPr>
              <a:t>•  诚实边界：做空逆风、低频、参数近似——它是有学术支撑的方向判断，不是自动赚钱机器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